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8" r:id="rId8"/>
    <p:sldId id="269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eb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eb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eb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ABE622-5B5D-F9ED-E86D-EA501CDAE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3697481"/>
            <a:ext cx="8791575" cy="738665"/>
          </a:xfrm>
        </p:spPr>
        <p:txBody>
          <a:bodyPr>
            <a:normAutofit fontScale="90000"/>
          </a:bodyPr>
          <a:lstStyle/>
          <a:p>
            <a:pPr algn="ctr"/>
            <a:b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Utilizzo del framework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Storm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per la realizzazione di un sistema real-time di network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intrusion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E1AF81F-7AB0-74DF-1D70-353520A8B63B}"/>
              </a:ext>
            </a:extLst>
          </p:cNvPr>
          <p:cNvSpPr txBox="1"/>
          <p:nvPr/>
        </p:nvSpPr>
        <p:spPr>
          <a:xfrm>
            <a:off x="1492618" y="2712111"/>
            <a:ext cx="92067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Corso di Laurea in Ingegneria Informatica</a:t>
            </a:r>
          </a:p>
          <a:p>
            <a:pPr algn="ctr"/>
            <a:r>
              <a:rPr lang="it-IT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Tesi di Laurea</a:t>
            </a:r>
          </a:p>
          <a:p>
            <a:endParaRPr lang="it-IT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172BADF-4528-F44A-5727-F78A8F0BBDDA}"/>
              </a:ext>
            </a:extLst>
          </p:cNvPr>
          <p:cNvSpPr txBox="1"/>
          <p:nvPr/>
        </p:nvSpPr>
        <p:spPr>
          <a:xfrm>
            <a:off x="8765829" y="5052184"/>
            <a:ext cx="193354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Candidato</a:t>
            </a:r>
          </a:p>
          <a:p>
            <a:pPr algn="ctr"/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Franco Mario Granata</a:t>
            </a:r>
          </a:p>
          <a:p>
            <a:pPr algn="ctr"/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220038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D63A24B-C3EE-A354-FEEE-45562BF9B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289" y="371939"/>
            <a:ext cx="4921413" cy="2154871"/>
          </a:xfrm>
          <a:prstGeom prst="roundRect">
            <a:avLst>
              <a:gd name="adj" fmla="val 41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4CB22F3-7E92-45B8-9124-F951A41E4ABA}"/>
              </a:ext>
            </a:extLst>
          </p:cNvPr>
          <p:cNvSpPr txBox="1"/>
          <p:nvPr/>
        </p:nvSpPr>
        <p:spPr>
          <a:xfrm>
            <a:off x="1876424" y="5052184"/>
            <a:ext cx="2380146" cy="61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6668" algn="ctr">
              <a:lnSpc>
                <a:spcPct val="107000"/>
              </a:lnSpc>
              <a:spcAft>
                <a:spcPts val="600"/>
              </a:spcAft>
            </a:pPr>
            <a:r>
              <a:rPr lang="it-IT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Relatore</a:t>
            </a:r>
            <a:endParaRPr lang="it-IT" sz="1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Dr. Riccardo Cantini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BA50EF2-E741-0FBA-1180-A1C9E559A063}"/>
              </a:ext>
            </a:extLst>
          </p:cNvPr>
          <p:cNvSpPr txBox="1"/>
          <p:nvPr/>
        </p:nvSpPr>
        <p:spPr>
          <a:xfrm>
            <a:off x="2544264" y="4161044"/>
            <a:ext cx="7455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67449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C8F2E6-08A9-66CD-770A-A6DA4805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IL MACHINE LEARNING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39413F1-29BA-CB20-D10B-37528BF7B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325" y="1128271"/>
            <a:ext cx="5214086" cy="26070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92AD0F-4614-AD97-AA70-29FC647A9AFC}"/>
              </a:ext>
            </a:extLst>
          </p:cNvPr>
          <p:cNvSpPr txBox="1"/>
          <p:nvPr/>
        </p:nvSpPr>
        <p:spPr>
          <a:xfrm>
            <a:off x="1141413" y="1744511"/>
            <a:ext cx="39849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L’intelligenza artificiale dal 1950 ad oggi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L’apprendimento automatico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Scopo ed utilizzi del machine learning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5D4995-6D1D-F5B9-CAE0-75C32FB7F457}"/>
              </a:ext>
            </a:extLst>
          </p:cNvPr>
          <p:cNvSpPr txBox="1"/>
          <p:nvPr/>
        </p:nvSpPr>
        <p:spPr>
          <a:xfrm>
            <a:off x="1141413" y="4554993"/>
            <a:ext cx="74876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 learning		(</a:t>
            </a: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apprendimendo</a:t>
            </a: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 supervisionato)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Unsupervised</a:t>
            </a: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 learning	(apprendimento non supervisionato)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Semi-</a:t>
            </a: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 learning	(apprendimento semi-supervisionato)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Reinforcement</a:t>
            </a: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 learning	(apprendimento per rinforzo)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35B38E00-38C0-CED6-1982-75E09873212C}"/>
              </a:ext>
            </a:extLst>
          </p:cNvPr>
          <p:cNvSpPr txBox="1">
            <a:spLocks/>
          </p:cNvSpPr>
          <p:nvPr/>
        </p:nvSpPr>
        <p:spPr>
          <a:xfrm>
            <a:off x="1141413" y="3457074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Algoritmi di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07669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3E324C-CAB8-45BA-8922-DE2A6AD02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La vulnerabilità informatica</a:t>
            </a:r>
          </a:p>
        </p:txBody>
      </p:sp>
      <p:pic>
        <p:nvPicPr>
          <p:cNvPr id="2050" name="Picture 2" descr="Le 20 vulnerabilità più significative che hanno paralizzato il mondo del  web (IT) nel decennio 2010-2020 - Softcomet">
            <a:extLst>
              <a:ext uri="{FF2B5EF4-FFF2-40B4-BE49-F238E27FC236}">
                <a16:creationId xmlns:a16="http://schemas.microsoft.com/office/drawing/2014/main" id="{B14E09FB-8E92-C2AB-CB82-D33C23145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300" y="1570887"/>
            <a:ext cx="3396111" cy="17690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D26848-D926-9DE0-DADF-CD758A54F84C}"/>
              </a:ext>
            </a:extLst>
          </p:cNvPr>
          <p:cNvSpPr txBox="1"/>
          <p:nvPr/>
        </p:nvSpPr>
        <p:spPr>
          <a:xfrm>
            <a:off x="1132022" y="2118500"/>
            <a:ext cx="6335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Vulnerabilità: predisposizione ad essere facilmente attaccato, offeso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3CC9F7-28D0-D8C9-0D43-F35207491FF5}"/>
              </a:ext>
            </a:extLst>
          </p:cNvPr>
          <p:cNvSpPr txBox="1"/>
          <p:nvPr/>
        </p:nvSpPr>
        <p:spPr>
          <a:xfrm>
            <a:off x="5504329" y="37562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47F7CD7-113C-8C8B-E3EC-8519219F32E5}"/>
              </a:ext>
            </a:extLst>
          </p:cNvPr>
          <p:cNvSpPr txBox="1"/>
          <p:nvPr/>
        </p:nvSpPr>
        <p:spPr>
          <a:xfrm>
            <a:off x="1132022" y="2455405"/>
            <a:ext cx="23635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Vulnerabilità informatica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D78827-8F11-9875-0D27-C742652CA044}"/>
              </a:ext>
            </a:extLst>
          </p:cNvPr>
          <p:cNvSpPr txBox="1"/>
          <p:nvPr/>
        </p:nvSpPr>
        <p:spPr>
          <a:xfrm>
            <a:off x="1" y="394087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Attacchi ovvi e attacchi nascosti </a:t>
            </a:r>
          </a:p>
        </p:txBody>
      </p:sp>
      <p:pic>
        <p:nvPicPr>
          <p:cNvPr id="1026" name="Picture 2" descr="Hacker: attacco Ransomware ai Sistemi Informativi - PrivacyControl">
            <a:extLst>
              <a:ext uri="{FF2B5EF4-FFF2-40B4-BE49-F238E27FC236}">
                <a16:creationId xmlns:a16="http://schemas.microsoft.com/office/drawing/2014/main" id="{ABD28A2B-AC8C-87A3-716D-2A2023A1A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211" y="4320907"/>
            <a:ext cx="3396111" cy="19324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 descr="Problema con Windows 10 - Microsoft Community">
            <a:extLst>
              <a:ext uri="{FF2B5EF4-FFF2-40B4-BE49-F238E27FC236}">
                <a16:creationId xmlns:a16="http://schemas.microsoft.com/office/drawing/2014/main" id="{5D072E13-260F-2621-09E6-BF72CA376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970" y="4328591"/>
            <a:ext cx="3421820" cy="19247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2686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ECD145-3D54-213B-5A7C-741B8717E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I network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intrusion</a:t>
            </a:r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 system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09682EF-3ACB-B77B-A12D-BA6F9C3F640E}"/>
              </a:ext>
            </a:extLst>
          </p:cNvPr>
          <p:cNvSpPr txBox="1"/>
          <p:nvPr/>
        </p:nvSpPr>
        <p:spPr>
          <a:xfrm>
            <a:off x="1141413" y="2097088"/>
            <a:ext cx="27815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Cosa sono?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A cosa servono?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L’architettura dei NIDS</a:t>
            </a:r>
          </a:p>
        </p:txBody>
      </p:sp>
      <p:pic>
        <p:nvPicPr>
          <p:cNvPr id="3076" name="Picture 4" descr="Intrusion Detection System: come funziona e quali sono i vantaggi">
            <a:extLst>
              <a:ext uri="{FF2B5EF4-FFF2-40B4-BE49-F238E27FC236}">
                <a16:creationId xmlns:a16="http://schemas.microsoft.com/office/drawing/2014/main" id="{8EDBD926-5B62-C8BD-1098-F6E2B78B9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443" y="1616414"/>
            <a:ext cx="1981199" cy="18125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2CD86C5-06CB-32B3-6DE0-DF82C1CBBA38}"/>
              </a:ext>
            </a:extLst>
          </p:cNvPr>
          <p:cNvSpPr txBox="1"/>
          <p:nvPr/>
        </p:nvSpPr>
        <p:spPr>
          <a:xfrm>
            <a:off x="5443390" y="3714157"/>
            <a:ext cx="3385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Il loro compito è quello di rilevare tempestivamente accessi non autorizzati ai computer o alle reti locali, identificando le minacce informatiche</a:t>
            </a:r>
            <a:r>
              <a:rPr lang="it-IT" sz="1600" b="0" i="0" dirty="0">
                <a:solidFill>
                  <a:srgbClr val="BFBFB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 che possano arrecare danni ai sistemi.</a:t>
            </a:r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8" name="Picture 6" descr="Reti informatiche: cosa sono e quali tipologie esistono">
            <a:extLst>
              <a:ext uri="{FF2B5EF4-FFF2-40B4-BE49-F238E27FC236}">
                <a16:creationId xmlns:a16="http://schemas.microsoft.com/office/drawing/2014/main" id="{3F1B92AF-89F2-4BE3-B1C7-BE8B7F52C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967" y="3400738"/>
            <a:ext cx="3385763" cy="21964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8223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DBFBBB-533F-0C04-1F71-98C383605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Tipologie di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nids</a:t>
            </a:r>
            <a:endParaRPr lang="it-I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99530F-CB79-ABA3-6638-1E519C26F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Basati su firme</a:t>
            </a:r>
          </a:p>
          <a:p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Basati su anomalie</a:t>
            </a:r>
          </a:p>
          <a:p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Ibridi</a:t>
            </a:r>
          </a:p>
          <a:p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Basati sul comportamento</a:t>
            </a:r>
          </a:p>
          <a:p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Host-</a:t>
            </a: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endParaRPr lang="it-IT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Distribuiti</a:t>
            </a:r>
          </a:p>
          <a:p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Basati sul machine learning</a:t>
            </a:r>
          </a:p>
          <a:p>
            <a:pPr marL="457200" lvl="1" indent="0">
              <a:buNone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1DC7308-D33B-2FC6-26DB-C517A8E86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775" y="1066799"/>
            <a:ext cx="4988860" cy="49888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9645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91D0A6-384F-6D39-CFF7-F8B6D6F96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Apache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storm</a:t>
            </a:r>
            <a:endParaRPr lang="it-I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9E89FA4-DC00-F2F5-26D6-DC0C7526D833}"/>
              </a:ext>
            </a:extLst>
          </p:cNvPr>
          <p:cNvSpPr txBox="1"/>
          <p:nvPr/>
        </p:nvSpPr>
        <p:spPr>
          <a:xfrm>
            <a:off x="1137488" y="1867813"/>
            <a:ext cx="66204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Apache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Storm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è un sistema di elaborazione distribuito in tempo reale progettato per processare flussi di dati su larga scala. 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Apache Storm: Explanations and Use cases">
            <a:extLst>
              <a:ext uri="{FF2B5EF4-FFF2-40B4-BE49-F238E27FC236}">
                <a16:creationId xmlns:a16="http://schemas.microsoft.com/office/drawing/2014/main" id="{D947EDB3-CAF8-CF0F-CB89-B0A2AE6BF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660" y="1573562"/>
            <a:ext cx="2957140" cy="14785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2" name="Picture 4" descr="3V en big data : définition et approche">
            <a:extLst>
              <a:ext uri="{FF2B5EF4-FFF2-40B4-BE49-F238E27FC236}">
                <a16:creationId xmlns:a16="http://schemas.microsoft.com/office/drawing/2014/main" id="{84DFAD0C-F97E-2459-5542-D80A39B5B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220" y="2821920"/>
            <a:ext cx="2044792" cy="13607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906B73B-E96B-30B9-4CD8-B39E27115C45}"/>
              </a:ext>
            </a:extLst>
          </p:cNvPr>
          <p:cNvSpPr txBox="1"/>
          <p:nvPr/>
        </p:nvSpPr>
        <p:spPr>
          <a:xfrm>
            <a:off x="3532747" y="2785227"/>
            <a:ext cx="61049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Big Data: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Varietà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Velocità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35589E1-B271-AB03-AEBE-D3424DD29D02}"/>
              </a:ext>
            </a:extLst>
          </p:cNvPr>
          <p:cNvSpPr txBox="1"/>
          <p:nvPr/>
        </p:nvSpPr>
        <p:spPr>
          <a:xfrm>
            <a:off x="7402743" y="4170047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Analisi in Streaming: </a:t>
            </a: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Dati in tempo reale e risposte immeditate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A07939D-7FAD-401D-9BE2-56A05D95F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242" y="4173800"/>
            <a:ext cx="1912889" cy="19128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5235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4913C6-C682-279C-547D-8389A51F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Architettura di apache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storm</a:t>
            </a:r>
            <a:endParaRPr lang="it-I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An Introduction to Apache Storm {Architecture, Use Cases, Pros &amp; Cons}">
            <a:extLst>
              <a:ext uri="{FF2B5EF4-FFF2-40B4-BE49-F238E27FC236}">
                <a16:creationId xmlns:a16="http://schemas.microsoft.com/office/drawing/2014/main" id="{5613E0F4-311A-88DC-3EAB-6ED13082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059" y="1984253"/>
            <a:ext cx="5220352" cy="26101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DAAEFBD-B4D3-BEF4-0A93-3FA219598513}"/>
              </a:ext>
            </a:extLst>
          </p:cNvPr>
          <p:cNvSpPr txBox="1"/>
          <p:nvPr/>
        </p:nvSpPr>
        <p:spPr>
          <a:xfrm>
            <a:off x="1141413" y="2005235"/>
            <a:ext cx="47647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Il flusso di lavoro di un’applicazione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Storm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è formato da: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Attesa da parte del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Nimbus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Raccolta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Invio dei messaggi da parte dei Supervisor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Attesa dei Supervisor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Riavvio del ciclo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CCA2B8-F612-DEB8-A47E-430C9086E406}"/>
              </a:ext>
            </a:extLst>
          </p:cNvPr>
          <p:cNvSpPr txBox="1"/>
          <p:nvPr/>
        </p:nvSpPr>
        <p:spPr>
          <a:xfrm>
            <a:off x="1141413" y="4212522"/>
            <a:ext cx="476474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Paradigma di programmazione di Apache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Storm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si basa su: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Topologia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Spout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Bolt</a:t>
            </a:r>
          </a:p>
        </p:txBody>
      </p:sp>
    </p:spTree>
    <p:extLst>
      <p:ext uri="{BB962C8B-B14F-4D97-AF65-F5344CB8AC3E}">
        <p14:creationId xmlns:p14="http://schemas.microsoft.com/office/powerpoint/2010/main" val="640468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CE44AF-0EB7-8F86-F677-640B46EC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Obiettivi e caso di studio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3ACE666-B7A9-5209-370F-968749707921}"/>
              </a:ext>
            </a:extLst>
          </p:cNvPr>
          <p:cNvSpPr txBox="1"/>
          <p:nvPr/>
        </p:nvSpPr>
        <p:spPr>
          <a:xfrm>
            <a:off x="1141413" y="2414736"/>
            <a:ext cx="51667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Addestrare un modello di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Utilizzare il modello per la predizione in tempo reale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Rilevare gli attacchi malevoli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Analizzare una notevole quantità di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Offrire una soluzione scalabile e robusta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76280AC-43B5-5183-5808-1F0A47C7F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12" y="1678646"/>
            <a:ext cx="4119059" cy="41190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630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5E6699-518C-B284-1CAE-82C63FB6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Realizzazione di un sistema real-time di network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intrusion</a:t>
            </a:r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it-I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4D5CBE3-C70B-55FE-E5B3-D0F9234F3D1E}"/>
              </a:ext>
            </a:extLst>
          </p:cNvPr>
          <p:cNvSpPr/>
          <p:nvPr/>
        </p:nvSpPr>
        <p:spPr>
          <a:xfrm>
            <a:off x="1344706" y="2097088"/>
            <a:ext cx="1945342" cy="699247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AddestraModello.py</a:t>
            </a:r>
          </a:p>
          <a:p>
            <a:pPr algn="ctr"/>
            <a:endParaRPr lang="it-IT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Addestra il modello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9FAD766B-7641-E3C7-7E53-EB32653831B2}"/>
              </a:ext>
            </a:extLst>
          </p:cNvPr>
          <p:cNvSpPr/>
          <p:nvPr/>
        </p:nvSpPr>
        <p:spPr>
          <a:xfrm>
            <a:off x="3792070" y="2097088"/>
            <a:ext cx="1945342" cy="913746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PythonBolt.py</a:t>
            </a:r>
          </a:p>
          <a:p>
            <a:pPr algn="ctr"/>
            <a:endParaRPr lang="it-IT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Carica il modello, esegue il processing ed emette predizioni</a:t>
            </a: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DF0A5E8C-22F5-923A-4ECA-E139A06767A9}"/>
              </a:ext>
            </a:extLst>
          </p:cNvPr>
          <p:cNvSpPr/>
          <p:nvPr/>
        </p:nvSpPr>
        <p:spPr>
          <a:xfrm>
            <a:off x="3334871" y="2312894"/>
            <a:ext cx="412376" cy="179294"/>
          </a:xfrm>
          <a:prstGeom prst="rightArrow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D64024F-3F90-0C89-1464-CF4B9FC36D29}"/>
              </a:ext>
            </a:extLst>
          </p:cNvPr>
          <p:cNvSpPr/>
          <p:nvPr/>
        </p:nvSpPr>
        <p:spPr>
          <a:xfrm>
            <a:off x="1264023" y="3818031"/>
            <a:ext cx="1389530" cy="1856627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Topology.java</a:t>
            </a:r>
          </a:p>
          <a:p>
            <a:pPr algn="ctr"/>
            <a:endParaRPr lang="it-IT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Motore di avviamento dell’app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75A6D8E-FEF6-459D-F35F-598E7B987AF7}"/>
              </a:ext>
            </a:extLst>
          </p:cNvPr>
          <p:cNvSpPr/>
          <p:nvPr/>
        </p:nvSpPr>
        <p:spPr>
          <a:xfrm>
            <a:off x="3258670" y="3818025"/>
            <a:ext cx="1389530" cy="1856627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Spout.java</a:t>
            </a:r>
          </a:p>
          <a:p>
            <a:pPr algn="ctr"/>
            <a:endParaRPr lang="it-IT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Legge i dati e li emette ai </a:t>
            </a:r>
            <a:r>
              <a:rPr lang="it-IT" sz="1050" dirty="0" err="1">
                <a:latin typeface="Arial" panose="020B0604020202020204" pitchFamily="34" charset="0"/>
                <a:cs typeface="Arial" panose="020B0604020202020204" pitchFamily="34" charset="0"/>
              </a:rPr>
              <a:t>bolt</a:t>
            </a:r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 successivi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1945A3C-2BDC-5A4A-C86C-7099F0601B8E}"/>
              </a:ext>
            </a:extLst>
          </p:cNvPr>
          <p:cNvSpPr/>
          <p:nvPr/>
        </p:nvSpPr>
        <p:spPr>
          <a:xfrm>
            <a:off x="5253316" y="3818024"/>
            <a:ext cx="1465731" cy="1856627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PredictionBolt.java</a:t>
            </a:r>
          </a:p>
          <a:p>
            <a:pPr algn="ctr"/>
            <a:endParaRPr lang="it-IT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esegue uno script Python per effettuare delle previsioni 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8446F41E-804C-D66A-0233-2098B6D0DD1E}"/>
              </a:ext>
            </a:extLst>
          </p:cNvPr>
          <p:cNvSpPr/>
          <p:nvPr/>
        </p:nvSpPr>
        <p:spPr>
          <a:xfrm>
            <a:off x="7247964" y="3818023"/>
            <a:ext cx="1389530" cy="1856627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PrintBolt.java</a:t>
            </a:r>
          </a:p>
          <a:p>
            <a:pPr algn="ctr"/>
            <a:endParaRPr lang="it-IT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stampa i valori delle previsioni ricevute</a:t>
            </a:r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6FFA4177-A8B7-4B3A-712E-51F20322D4E3}"/>
              </a:ext>
            </a:extLst>
          </p:cNvPr>
          <p:cNvSpPr/>
          <p:nvPr/>
        </p:nvSpPr>
        <p:spPr>
          <a:xfrm>
            <a:off x="8830235" y="4673638"/>
            <a:ext cx="412376" cy="179294"/>
          </a:xfrm>
          <a:prstGeom prst="rightArrow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B969D86E-C0A8-6ABF-0331-DE9C5FC09F3F}"/>
              </a:ext>
            </a:extLst>
          </p:cNvPr>
          <p:cNvSpPr/>
          <p:nvPr/>
        </p:nvSpPr>
        <p:spPr>
          <a:xfrm>
            <a:off x="4744570" y="4673638"/>
            <a:ext cx="412376" cy="179294"/>
          </a:xfrm>
          <a:prstGeom prst="rightArrow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83CA9B5F-427B-A293-670A-62A14FFA0D6F}"/>
              </a:ext>
            </a:extLst>
          </p:cNvPr>
          <p:cNvSpPr/>
          <p:nvPr/>
        </p:nvSpPr>
        <p:spPr>
          <a:xfrm>
            <a:off x="6777318" y="4673638"/>
            <a:ext cx="412376" cy="179294"/>
          </a:xfrm>
          <a:prstGeom prst="rightArrow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reccia angolare bidirezionale 15">
            <a:extLst>
              <a:ext uri="{FF2B5EF4-FFF2-40B4-BE49-F238E27FC236}">
                <a16:creationId xmlns:a16="http://schemas.microsoft.com/office/drawing/2014/main" id="{8DED016E-C22D-2527-E77A-C51A8E51BCF9}"/>
              </a:ext>
            </a:extLst>
          </p:cNvPr>
          <p:cNvSpPr/>
          <p:nvPr/>
        </p:nvSpPr>
        <p:spPr>
          <a:xfrm flipV="1">
            <a:off x="5737412" y="2316241"/>
            <a:ext cx="573741" cy="1425190"/>
          </a:xfrm>
          <a:prstGeom prst="leftUpArrow">
            <a:avLst>
              <a:gd name="adj1" fmla="val 25000"/>
              <a:gd name="adj2" fmla="val 19531"/>
              <a:gd name="adj3" fmla="val 25000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DB5F2EB2-1E73-3D67-9FFC-7E600ED53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064" y="4124743"/>
            <a:ext cx="1829056" cy="1243186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8AA166F9-2189-785E-D28F-B0B65A0D1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76" y="5674650"/>
            <a:ext cx="7852217" cy="2762250"/>
          </a:xfrm>
          <a:prstGeom prst="rect">
            <a:avLst/>
          </a:prstGeom>
        </p:spPr>
      </p:pic>
      <p:pic>
        <p:nvPicPr>
          <p:cNvPr id="1026" name="Picture 2" descr="Cos'è Python e a cosa serve">
            <a:extLst>
              <a:ext uri="{FF2B5EF4-FFF2-40B4-BE49-F238E27FC236}">
                <a16:creationId xmlns:a16="http://schemas.microsoft.com/office/drawing/2014/main" id="{4A4F2063-5225-372A-86D0-1633A5C8F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793" y="2125655"/>
            <a:ext cx="1137863" cy="1137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 descr="Java Runtime Environment">
            <a:extLst>
              <a:ext uri="{FF2B5EF4-FFF2-40B4-BE49-F238E27FC236}">
                <a16:creationId xmlns:a16="http://schemas.microsoft.com/office/drawing/2014/main" id="{8C621223-BB9A-A4D8-15DF-F1E45E3E6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487" y="2107653"/>
            <a:ext cx="1736956" cy="11558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4698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0D5DD3-B8D4-DCF1-BF8A-386F139CD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5486"/>
            <a:ext cx="9905998" cy="1478570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Considerazioni finali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06E4A8B-920C-BF6D-DCB2-C8800DCDE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776" y="1788416"/>
            <a:ext cx="3562671" cy="447122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50331B0-2B82-B8E0-CF45-1E53A0278076}"/>
              </a:ext>
            </a:extLst>
          </p:cNvPr>
          <p:cNvSpPr txBox="1"/>
          <p:nvPr/>
        </p:nvSpPr>
        <p:spPr>
          <a:xfrm>
            <a:off x="1141413" y="1788416"/>
            <a:ext cx="5106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Report di classificazione, un riassunto delle prestazioni del modello che prevede: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Precisione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Sensibilità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F1 Score, media armonica di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e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77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146622-2699-0839-2B5E-0C68055B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/>
          <a:lstStyle/>
          <a:p>
            <a:pPr algn="ctr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Grazie a tutti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6615699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364</TotalTime>
  <Words>399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Circuito</vt:lpstr>
      <vt:lpstr> Utilizzo del framework Storm per la realizzazione di un sistema real-time di network intrusion detection</vt:lpstr>
      <vt:lpstr>IL MACHINE LEARNING</vt:lpstr>
      <vt:lpstr>La vulnerabilità informatica</vt:lpstr>
      <vt:lpstr>I network intrusion detection system</vt:lpstr>
      <vt:lpstr>Tipologie di nids</vt:lpstr>
      <vt:lpstr>Apache storm</vt:lpstr>
      <vt:lpstr>Architettura di apache storm</vt:lpstr>
      <vt:lpstr>Obiettivi e caso di studio</vt:lpstr>
      <vt:lpstr>Realizzazione di un sistema real-time di network intrusion detection</vt:lpstr>
      <vt:lpstr>Considerazioni finali </vt:lpstr>
      <vt:lpstr>Grazie a tutti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Utilizzo del framework Storm per la realizzazione di un sistema real-time di network intrusion detection</dc:title>
  <dc:creator>Mario Franco Granata</dc:creator>
  <cp:lastModifiedBy>Mario Franco Granata</cp:lastModifiedBy>
  <cp:revision>13</cp:revision>
  <dcterms:created xsi:type="dcterms:W3CDTF">2024-08-27T12:03:27Z</dcterms:created>
  <dcterms:modified xsi:type="dcterms:W3CDTF">2024-09-07T08:48:21Z</dcterms:modified>
</cp:coreProperties>
</file>